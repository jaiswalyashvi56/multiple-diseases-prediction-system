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Etna Sans Serif" panose="020B0604020202020204" charset="0"/>
      <p:regular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Poppins" panose="000005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1A6AB-F236-4F53-8F8D-91D285521946}" v="2" dt="2026-03-30T18:18:51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vi jaiswal" userId="93af7ee45fb3cd66" providerId="LiveId" clId="{63DA221B-6824-43F6-91E8-307F14F1070B}"/>
    <pc:docChg chg="custSel modSld sldOrd">
      <pc:chgData name="yashvi jaiswal" userId="93af7ee45fb3cd66" providerId="LiveId" clId="{63DA221B-6824-43F6-91E8-307F14F1070B}" dt="2026-03-30T18:21:05.691" v="698" actId="14100"/>
      <pc:docMkLst>
        <pc:docMk/>
      </pc:docMkLst>
      <pc:sldChg chg="addSp delSp modSp mod">
        <pc:chgData name="yashvi jaiswal" userId="93af7ee45fb3cd66" providerId="LiveId" clId="{63DA221B-6824-43F6-91E8-307F14F1070B}" dt="2026-03-30T18:21:05.691" v="698" actId="14100"/>
        <pc:sldMkLst>
          <pc:docMk/>
          <pc:sldMk cId="0" sldId="256"/>
        </pc:sldMkLst>
        <pc:spChg chg="add mod">
          <ac:chgData name="yashvi jaiswal" userId="93af7ee45fb3cd66" providerId="LiveId" clId="{63DA221B-6824-43F6-91E8-307F14F1070B}" dt="2026-03-30T18:21:05.691" v="698" actId="14100"/>
          <ac:spMkLst>
            <pc:docMk/>
            <pc:sldMk cId="0" sldId="256"/>
            <ac:spMk id="9" creationId="{40B59DA1-0675-EF94-27D0-D6D213198770}"/>
          </ac:spMkLst>
        </pc:spChg>
        <pc:spChg chg="mod">
          <ac:chgData name="yashvi jaiswal" userId="93af7ee45fb3cd66" providerId="LiveId" clId="{63DA221B-6824-43F6-91E8-307F14F1070B}" dt="2026-03-12T14:38:44.850" v="648" actId="14100"/>
          <ac:spMkLst>
            <pc:docMk/>
            <pc:sldMk cId="0" sldId="256"/>
            <ac:spMk id="19" creationId="{00000000-0000-0000-0000-000000000000}"/>
          </ac:spMkLst>
        </pc:spChg>
        <pc:grpChg chg="mod">
          <ac:chgData name="yashvi jaiswal" userId="93af7ee45fb3cd66" providerId="LiveId" clId="{63DA221B-6824-43F6-91E8-307F14F1070B}" dt="2026-03-12T14:37:30.866" v="639" actId="1076"/>
          <ac:grpSpMkLst>
            <pc:docMk/>
            <pc:sldMk cId="0" sldId="256"/>
            <ac:grpSpMk id="16" creationId="{00000000-0000-0000-0000-000000000000}"/>
          </ac:grpSpMkLst>
        </pc:grpChg>
        <pc:picChg chg="mod">
          <ac:chgData name="yashvi jaiswal" userId="93af7ee45fb3cd66" providerId="LiveId" clId="{63DA221B-6824-43F6-91E8-307F14F1070B}" dt="2026-03-14T06:29:52.334" v="649" actId="14100"/>
          <ac:picMkLst>
            <pc:docMk/>
            <pc:sldMk cId="0" sldId="256"/>
            <ac:picMk id="8" creationId="{09AB39CF-7871-031A-A06C-8680358CD0D8}"/>
          </ac:picMkLst>
        </pc:picChg>
      </pc:sldChg>
      <pc:sldChg chg="delSp modSp mod">
        <pc:chgData name="yashvi jaiswal" userId="93af7ee45fb3cd66" providerId="LiveId" clId="{63DA221B-6824-43F6-91E8-307F14F1070B}" dt="2026-03-10T16:20:20.446" v="27" actId="1076"/>
        <pc:sldMkLst>
          <pc:docMk/>
          <pc:sldMk cId="0" sldId="257"/>
        </pc:sldMkLst>
        <pc:spChg chg="mod">
          <ac:chgData name="yashvi jaiswal" userId="93af7ee45fb3cd66" providerId="LiveId" clId="{63DA221B-6824-43F6-91E8-307F14F1070B}" dt="2026-03-10T16:20:20.446" v="27" actId="1076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yashvi jaiswal" userId="93af7ee45fb3cd66" providerId="LiveId" clId="{63DA221B-6824-43F6-91E8-307F14F1070B}" dt="2026-03-10T16:16:06.694" v="6" actId="14100"/>
        <pc:sldMkLst>
          <pc:docMk/>
          <pc:sldMk cId="0" sldId="258"/>
        </pc:sldMkLst>
        <pc:spChg chg="mod">
          <ac:chgData name="yashvi jaiswal" userId="93af7ee45fb3cd66" providerId="LiveId" clId="{63DA221B-6824-43F6-91E8-307F14F1070B}" dt="2026-03-10T16:15:42.709" v="3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yashvi jaiswal" userId="93af7ee45fb3cd66" providerId="LiveId" clId="{63DA221B-6824-43F6-91E8-307F14F1070B}" dt="2026-03-10T16:16:06.694" v="6" actId="14100"/>
          <ac:spMkLst>
            <pc:docMk/>
            <pc:sldMk cId="0" sldId="258"/>
            <ac:spMk id="13" creationId="{00000000-0000-0000-0000-000000000000}"/>
          </ac:spMkLst>
        </pc:spChg>
        <pc:grpChg chg="mod">
          <ac:chgData name="yashvi jaiswal" userId="93af7ee45fb3cd66" providerId="LiveId" clId="{63DA221B-6824-43F6-91E8-307F14F1070B}" dt="2026-03-10T16:15:47.034" v="4" actId="14100"/>
          <ac:grpSpMkLst>
            <pc:docMk/>
            <pc:sldMk cId="0" sldId="258"/>
            <ac:grpSpMk id="2" creationId="{00000000-0000-0000-0000-000000000000}"/>
          </ac:grpSpMkLst>
        </pc:grpChg>
        <pc:grpChg chg="mod">
          <ac:chgData name="yashvi jaiswal" userId="93af7ee45fb3cd66" providerId="LiveId" clId="{63DA221B-6824-43F6-91E8-307F14F1070B}" dt="2026-03-10T16:15:33.995" v="1" actId="1076"/>
          <ac:grpSpMkLst>
            <pc:docMk/>
            <pc:sldMk cId="0" sldId="258"/>
            <ac:grpSpMk id="5" creationId="{00000000-0000-0000-0000-000000000000}"/>
          </ac:grpSpMkLst>
        </pc:grpChg>
      </pc:sldChg>
      <pc:sldChg chg="modSp mod">
        <pc:chgData name="yashvi jaiswal" userId="93af7ee45fb3cd66" providerId="LiveId" clId="{63DA221B-6824-43F6-91E8-307F14F1070B}" dt="2026-03-10T16:16:17.043" v="7" actId="14100"/>
        <pc:sldMkLst>
          <pc:docMk/>
          <pc:sldMk cId="0" sldId="259"/>
        </pc:sldMkLst>
        <pc:spChg chg="mod">
          <ac:chgData name="yashvi jaiswal" userId="93af7ee45fb3cd66" providerId="LiveId" clId="{63DA221B-6824-43F6-91E8-307F14F1070B}" dt="2026-03-10T16:16:17.043" v="7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yashvi jaiswal" userId="93af7ee45fb3cd66" providerId="LiveId" clId="{63DA221B-6824-43F6-91E8-307F14F1070B}" dt="2026-03-11T03:47:04.800" v="292" actId="1076"/>
        <pc:sldMkLst>
          <pc:docMk/>
          <pc:sldMk cId="0" sldId="261"/>
        </pc:sldMkLst>
        <pc:spChg chg="mod">
          <ac:chgData name="yashvi jaiswal" userId="93af7ee45fb3cd66" providerId="LiveId" clId="{63DA221B-6824-43F6-91E8-307F14F1070B}" dt="2026-03-11T03:47:04.800" v="292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yashvi jaiswal" userId="93af7ee45fb3cd66" providerId="LiveId" clId="{63DA221B-6824-43F6-91E8-307F14F1070B}" dt="2026-03-11T03:46:55.833" v="290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yashvi jaiswal" userId="93af7ee45fb3cd66" providerId="LiveId" clId="{63DA221B-6824-43F6-91E8-307F14F1070B}" dt="2026-03-11T03:46:42.368" v="287" actId="14100"/>
          <ac:spMkLst>
            <pc:docMk/>
            <pc:sldMk cId="0" sldId="261"/>
            <ac:spMk id="7" creationId="{00000000-0000-0000-0000-000000000000}"/>
          </ac:spMkLst>
        </pc:spChg>
      </pc:sldChg>
      <pc:sldChg chg="addSp delSp modSp mod ord">
        <pc:chgData name="yashvi jaiswal" userId="93af7ee45fb3cd66" providerId="LiveId" clId="{63DA221B-6824-43F6-91E8-307F14F1070B}" dt="2026-03-14T06:31:36.672" v="651"/>
        <pc:sldMkLst>
          <pc:docMk/>
          <pc:sldMk cId="0" sldId="262"/>
        </pc:sldMkLst>
        <pc:spChg chg="mod">
          <ac:chgData name="yashvi jaiswal" userId="93af7ee45fb3cd66" providerId="LiveId" clId="{63DA221B-6824-43F6-91E8-307F14F1070B}" dt="2026-03-11T03:39:53.839" v="21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yashvi jaiswal" userId="93af7ee45fb3cd66" providerId="LiveId" clId="{63DA221B-6824-43F6-91E8-307F14F1070B}" dt="2026-03-11T03:40:17.489" v="223" actId="20577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yashvi jaiswal" userId="93af7ee45fb3cd66" providerId="LiveId" clId="{63DA221B-6824-43F6-91E8-307F14F1070B}" dt="2026-03-12T14:30:48.087" v="467" actId="20577"/>
          <ac:spMkLst>
            <pc:docMk/>
            <pc:sldMk cId="0" sldId="262"/>
            <ac:spMk id="14" creationId="{3E415574-9A15-713D-61F8-88BE1EA197F1}"/>
          </ac:spMkLst>
        </pc:spChg>
        <pc:spChg chg="add mod">
          <ac:chgData name="yashvi jaiswal" userId="93af7ee45fb3cd66" providerId="LiveId" clId="{63DA221B-6824-43F6-91E8-307F14F1070B}" dt="2026-03-12T14:31:46.782" v="505" actId="20577"/>
          <ac:spMkLst>
            <pc:docMk/>
            <pc:sldMk cId="0" sldId="262"/>
            <ac:spMk id="15" creationId="{E1ABDBF9-99C7-2839-3E2B-584670A3EDF8}"/>
          </ac:spMkLst>
        </pc:spChg>
        <pc:spChg chg="add mod">
          <ac:chgData name="yashvi jaiswal" userId="93af7ee45fb3cd66" providerId="LiveId" clId="{63DA221B-6824-43F6-91E8-307F14F1070B}" dt="2026-03-12T14:32:47.273" v="536" actId="20577"/>
          <ac:spMkLst>
            <pc:docMk/>
            <pc:sldMk cId="0" sldId="262"/>
            <ac:spMk id="16" creationId="{5546DBDC-B872-A9BF-2246-855AE42F91D5}"/>
          </ac:spMkLst>
        </pc:spChg>
        <pc:spChg chg="add mod">
          <ac:chgData name="yashvi jaiswal" userId="93af7ee45fb3cd66" providerId="LiveId" clId="{63DA221B-6824-43F6-91E8-307F14F1070B}" dt="2026-03-11T03:50:16.941" v="314" actId="1076"/>
          <ac:spMkLst>
            <pc:docMk/>
            <pc:sldMk cId="0" sldId="262"/>
            <ac:spMk id="17" creationId="{521755BF-FF27-8833-01D4-BB54326B0F12}"/>
          </ac:spMkLst>
        </pc:spChg>
        <pc:spChg chg="add mod">
          <ac:chgData name="yashvi jaiswal" userId="93af7ee45fb3cd66" providerId="LiveId" clId="{63DA221B-6824-43F6-91E8-307F14F1070B}" dt="2026-03-11T03:50:31.308" v="316" actId="1076"/>
          <ac:spMkLst>
            <pc:docMk/>
            <pc:sldMk cId="0" sldId="262"/>
            <ac:spMk id="18" creationId="{2062BF72-40A2-F873-4047-BEF8400F379E}"/>
          </ac:spMkLst>
        </pc:spChg>
        <pc:spChg chg="add mod">
          <ac:chgData name="yashvi jaiswal" userId="93af7ee45fb3cd66" providerId="LiveId" clId="{63DA221B-6824-43F6-91E8-307F14F1070B}" dt="2026-03-11T03:50:44.215" v="320" actId="1076"/>
          <ac:spMkLst>
            <pc:docMk/>
            <pc:sldMk cId="0" sldId="262"/>
            <ac:spMk id="19" creationId="{8E00F633-FA0F-6CDF-C260-CA787D3A0FCE}"/>
          </ac:spMkLst>
        </pc:spChg>
        <pc:spChg chg="add mod">
          <ac:chgData name="yashvi jaiswal" userId="93af7ee45fb3cd66" providerId="LiveId" clId="{63DA221B-6824-43F6-91E8-307F14F1070B}" dt="2026-03-12T14:33:58.128" v="578" actId="14100"/>
          <ac:spMkLst>
            <pc:docMk/>
            <pc:sldMk cId="0" sldId="262"/>
            <ac:spMk id="20" creationId="{EC3464D1-88A8-8109-2451-3D7C7300ACCB}"/>
          </ac:spMkLst>
        </pc:spChg>
        <pc:spChg chg="add mod">
          <ac:chgData name="yashvi jaiswal" userId="93af7ee45fb3cd66" providerId="LiveId" clId="{63DA221B-6824-43F6-91E8-307F14F1070B}" dt="2026-03-11T03:53:29.488" v="353" actId="14100"/>
          <ac:spMkLst>
            <pc:docMk/>
            <pc:sldMk cId="0" sldId="262"/>
            <ac:spMk id="21" creationId="{EECE0125-BF40-1D8F-F5A2-DFDA2F2739F6}"/>
          </ac:spMkLst>
        </pc:spChg>
        <pc:spChg chg="add mod">
          <ac:chgData name="yashvi jaiswal" userId="93af7ee45fb3cd66" providerId="LiveId" clId="{63DA221B-6824-43F6-91E8-307F14F1070B}" dt="2026-03-12T14:35:25.506" v="638" actId="403"/>
          <ac:spMkLst>
            <pc:docMk/>
            <pc:sldMk cId="0" sldId="262"/>
            <ac:spMk id="22" creationId="{260C406E-5ECD-D834-FB62-0157058F253F}"/>
          </ac:spMkLst>
        </pc:spChg>
        <pc:spChg chg="add mod">
          <ac:chgData name="yashvi jaiswal" userId="93af7ee45fb3cd66" providerId="LiveId" clId="{63DA221B-6824-43F6-91E8-307F14F1070B}" dt="2026-03-11T03:53:21.283" v="352" actId="14100"/>
          <ac:spMkLst>
            <pc:docMk/>
            <pc:sldMk cId="0" sldId="262"/>
            <ac:spMk id="24" creationId="{B49F3A4D-7526-94C2-3026-5045DBC48A59}"/>
          </ac:spMkLst>
        </pc:spChg>
        <pc:spChg chg="add mod">
          <ac:chgData name="yashvi jaiswal" userId="93af7ee45fb3cd66" providerId="LiveId" clId="{63DA221B-6824-43F6-91E8-307F14F1070B}" dt="2026-03-12T14:29:38.852" v="426" actId="20577"/>
          <ac:spMkLst>
            <pc:docMk/>
            <pc:sldMk cId="0" sldId="262"/>
            <ac:spMk id="26" creationId="{0FEA8876-6173-2587-EF1A-37E48D792FD7}"/>
          </ac:spMkLst>
        </pc:spChg>
      </pc:sldChg>
      <pc:sldChg chg="modSp mod">
        <pc:chgData name="yashvi jaiswal" userId="93af7ee45fb3cd66" providerId="LiveId" clId="{63DA221B-6824-43F6-91E8-307F14F1070B}" dt="2026-03-30T18:20:33.477" v="696" actId="14100"/>
        <pc:sldMkLst>
          <pc:docMk/>
          <pc:sldMk cId="0" sldId="263"/>
        </pc:sldMkLst>
        <pc:spChg chg="mod">
          <ac:chgData name="yashvi jaiswal" userId="93af7ee45fb3cd66" providerId="LiveId" clId="{63DA221B-6824-43F6-91E8-307F14F1070B}" dt="2026-03-10T16:18:51.463" v="16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yashvi jaiswal" userId="93af7ee45fb3cd66" providerId="LiveId" clId="{63DA221B-6824-43F6-91E8-307F14F1070B}" dt="2026-03-10T16:18:22.496" v="12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yashvi jaiswal" userId="93af7ee45fb3cd66" providerId="LiveId" clId="{63DA221B-6824-43F6-91E8-307F14F1070B}" dt="2026-03-10T16:19:01.355" v="18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yashvi jaiswal" userId="93af7ee45fb3cd66" providerId="LiveId" clId="{63DA221B-6824-43F6-91E8-307F14F1070B}" dt="2026-03-10T16:18:55.543" v="17" actId="14100"/>
          <ac:spMkLst>
            <pc:docMk/>
            <pc:sldMk cId="0" sldId="263"/>
            <ac:spMk id="14" creationId="{00000000-0000-0000-0000-000000000000}"/>
          </ac:spMkLst>
        </pc:spChg>
        <pc:grpChg chg="mod">
          <ac:chgData name="yashvi jaiswal" userId="93af7ee45fb3cd66" providerId="LiveId" clId="{63DA221B-6824-43F6-91E8-307F14F1070B}" dt="2026-03-30T18:20:33.477" v="696" actId="14100"/>
          <ac:grpSpMkLst>
            <pc:docMk/>
            <pc:sldMk cId="0" sldId="263"/>
            <ac:grpSpMk id="2" creationId="{00000000-0000-0000-0000-000000000000}"/>
          </ac:grpSpMkLst>
        </pc:grpChg>
        <pc:grpChg chg="mod">
          <ac:chgData name="yashvi jaiswal" userId="93af7ee45fb3cd66" providerId="LiveId" clId="{63DA221B-6824-43F6-91E8-307F14F1070B}" dt="2026-03-10T16:19:16.660" v="19" actId="14100"/>
          <ac:grpSpMkLst>
            <pc:docMk/>
            <pc:sldMk cId="0" sldId="263"/>
            <ac:grpSpMk id="10" creationId="{00000000-0000-0000-0000-000000000000}"/>
          </ac:grpSpMkLst>
        </pc:grpChg>
      </pc:sldChg>
      <pc:sldChg chg="modSp mod">
        <pc:chgData name="yashvi jaiswal" userId="93af7ee45fb3cd66" providerId="LiveId" clId="{63DA221B-6824-43F6-91E8-307F14F1070B}" dt="2026-03-10T16:16:31.575" v="8" actId="14100"/>
        <pc:sldMkLst>
          <pc:docMk/>
          <pc:sldMk cId="0" sldId="264"/>
        </pc:sldMkLst>
        <pc:spChg chg="mod">
          <ac:chgData name="yashvi jaiswal" userId="93af7ee45fb3cd66" providerId="LiveId" clId="{63DA221B-6824-43F6-91E8-307F14F1070B}" dt="2026-03-10T16:16:31.575" v="8" actId="14100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43342" y="5606905"/>
            <a:ext cx="11068832" cy="1786860"/>
            <a:chOff x="0" y="0"/>
            <a:chExt cx="2873255" cy="4638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3255" cy="463834"/>
            </a:xfrm>
            <a:custGeom>
              <a:avLst/>
              <a:gdLst/>
              <a:ahLst/>
              <a:cxnLst/>
              <a:rect l="l" t="t" r="r" b="b"/>
              <a:pathLst>
                <a:path w="2873255" h="463834">
                  <a:moveTo>
                    <a:pt x="69943" y="0"/>
                  </a:moveTo>
                  <a:lnTo>
                    <a:pt x="2803311" y="0"/>
                  </a:lnTo>
                  <a:cubicBezTo>
                    <a:pt x="2841940" y="0"/>
                    <a:pt x="2873255" y="31315"/>
                    <a:pt x="2873255" y="69943"/>
                  </a:cubicBezTo>
                  <a:lnTo>
                    <a:pt x="2873255" y="393891"/>
                  </a:lnTo>
                  <a:cubicBezTo>
                    <a:pt x="2873255" y="412441"/>
                    <a:pt x="2865886" y="430231"/>
                    <a:pt x="2852769" y="443348"/>
                  </a:cubicBezTo>
                  <a:cubicBezTo>
                    <a:pt x="2839652" y="456465"/>
                    <a:pt x="2821861" y="463834"/>
                    <a:pt x="2803311" y="463834"/>
                  </a:cubicBezTo>
                  <a:lnTo>
                    <a:pt x="69943" y="463834"/>
                  </a:lnTo>
                  <a:cubicBezTo>
                    <a:pt x="31315" y="463834"/>
                    <a:pt x="0" y="432520"/>
                    <a:pt x="0" y="393891"/>
                  </a:cubicBezTo>
                  <a:lnTo>
                    <a:pt x="0" y="69943"/>
                  </a:lnTo>
                  <a:cubicBezTo>
                    <a:pt x="0" y="31315"/>
                    <a:pt x="31315" y="0"/>
                    <a:pt x="69943" y="0"/>
                  </a:cubicBezTo>
                  <a:close/>
                </a:path>
              </a:pathLst>
            </a:custGeom>
            <a:solidFill>
              <a:srgbClr val="79B4D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73255" cy="501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12265" y="5548653"/>
            <a:ext cx="8751193" cy="2010492"/>
            <a:chOff x="0" y="0"/>
            <a:chExt cx="2271640" cy="5218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1640" cy="521885"/>
            </a:xfrm>
            <a:custGeom>
              <a:avLst/>
              <a:gdLst/>
              <a:ahLst/>
              <a:cxnLst/>
              <a:rect l="l" t="t" r="r" b="b"/>
              <a:pathLst>
                <a:path w="2271640" h="521885">
                  <a:moveTo>
                    <a:pt x="88467" y="0"/>
                  </a:moveTo>
                  <a:lnTo>
                    <a:pt x="2183173" y="0"/>
                  </a:lnTo>
                  <a:cubicBezTo>
                    <a:pt x="2232032" y="0"/>
                    <a:pt x="2271640" y="39608"/>
                    <a:pt x="2271640" y="88467"/>
                  </a:cubicBezTo>
                  <a:lnTo>
                    <a:pt x="2271640" y="433418"/>
                  </a:lnTo>
                  <a:cubicBezTo>
                    <a:pt x="2271640" y="482277"/>
                    <a:pt x="2232032" y="521885"/>
                    <a:pt x="2183173" y="521885"/>
                  </a:cubicBezTo>
                  <a:lnTo>
                    <a:pt x="88467" y="521885"/>
                  </a:lnTo>
                  <a:cubicBezTo>
                    <a:pt x="39608" y="521885"/>
                    <a:pt x="0" y="482277"/>
                    <a:pt x="0" y="433418"/>
                  </a:cubicBezTo>
                  <a:lnTo>
                    <a:pt x="0" y="88467"/>
                  </a:lnTo>
                  <a:cubicBezTo>
                    <a:pt x="0" y="39608"/>
                    <a:pt x="39608" y="0"/>
                    <a:pt x="88467" y="0"/>
                  </a:cubicBezTo>
                  <a:close/>
                </a:path>
              </a:pathLst>
            </a:custGeom>
            <a:solidFill>
              <a:srgbClr val="1042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71640" cy="559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PRESENTED BY-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Yashvi Jaiswal (202310101150020)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Abhijeet Shukla (202310101150041)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Shweta Singh (202310101150047)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2411" y="1846797"/>
            <a:ext cx="7419295" cy="741929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B4D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84448" y="1846796"/>
            <a:ext cx="7371670" cy="7419295"/>
            <a:chOff x="0" y="0"/>
            <a:chExt cx="807583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7583" cy="812800"/>
            </a:xfrm>
            <a:custGeom>
              <a:avLst/>
              <a:gdLst/>
              <a:ahLst/>
              <a:cxnLst/>
              <a:rect l="l" t="t" r="r" b="b"/>
              <a:pathLst>
                <a:path w="807583" h="812800">
                  <a:moveTo>
                    <a:pt x="403791" y="0"/>
                  </a:moveTo>
                  <a:cubicBezTo>
                    <a:pt x="180784" y="0"/>
                    <a:pt x="0" y="181951"/>
                    <a:pt x="0" y="406400"/>
                  </a:cubicBezTo>
                  <a:cubicBezTo>
                    <a:pt x="0" y="630849"/>
                    <a:pt x="180784" y="812800"/>
                    <a:pt x="403791" y="812800"/>
                  </a:cubicBezTo>
                  <a:cubicBezTo>
                    <a:pt x="626799" y="812800"/>
                    <a:pt x="807583" y="630849"/>
                    <a:pt x="807583" y="406400"/>
                  </a:cubicBezTo>
                  <a:cubicBezTo>
                    <a:pt x="807583" y="181951"/>
                    <a:pt x="626799" y="0"/>
                    <a:pt x="403791" y="0"/>
                  </a:cubicBezTo>
                  <a:close/>
                </a:path>
              </a:pathLst>
            </a:custGeom>
            <a:blipFill>
              <a:blip r:embed="rId2"/>
              <a:stretch>
                <a:fillRect t="-20125" b="-2900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219250" y="507327"/>
            <a:ext cx="9792923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6356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MULTIPLE  DISEASE PREDICTION  SYSTEM</a:t>
            </a:r>
          </a:p>
          <a:p>
            <a:pPr algn="l">
              <a:lnSpc>
                <a:spcPts val="7627"/>
              </a:lnSpc>
            </a:pPr>
            <a:r>
              <a:rPr lang="en-US" sz="6356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USING  MACHINE  LEARNING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0" y="9221147"/>
            <a:ext cx="18288000" cy="133386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19563414" y="0"/>
                </a:moveTo>
                <a:lnTo>
                  <a:pt x="0" y="0"/>
                </a:lnTo>
                <a:lnTo>
                  <a:pt x="0" y="1333869"/>
                </a:lnTo>
                <a:lnTo>
                  <a:pt x="19563414" y="1333869"/>
                </a:lnTo>
                <a:lnTo>
                  <a:pt x="195634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TextBox 20"/>
          <p:cNvSpPr txBox="1"/>
          <p:nvPr/>
        </p:nvSpPr>
        <p:spPr>
          <a:xfrm>
            <a:off x="11765059" y="7988255"/>
            <a:ext cx="549424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to- Mrs.Saumya Ra</a:t>
            </a: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B39CF-7871-031A-A06C-8680358CD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819400" cy="2410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B59DA1-0675-EF94-27D0-D6D213198770}"/>
              </a:ext>
            </a:extLst>
          </p:cNvPr>
          <p:cNvSpPr txBox="1"/>
          <p:nvPr/>
        </p:nvSpPr>
        <p:spPr>
          <a:xfrm>
            <a:off x="9144000" y="4381500"/>
            <a:ext cx="78839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Guide- Mr. SUKHMANDER  SINGH</a:t>
            </a:r>
            <a:r>
              <a:rPr lang="en-US" sz="1600" dirty="0"/>
              <a:t>.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036621" y="1000728"/>
            <a:ext cx="7764859" cy="7811727"/>
            <a:chOff x="0" y="0"/>
            <a:chExt cx="859105" cy="864291"/>
          </a:xfrm>
        </p:grpSpPr>
        <p:sp>
          <p:nvSpPr>
            <p:cNvPr id="9" name="Freeform 9"/>
            <p:cNvSpPr/>
            <p:nvPr/>
          </p:nvSpPr>
          <p:spPr>
            <a:xfrm rot="6000">
              <a:off x="0" y="0"/>
              <a:ext cx="859105" cy="864291"/>
            </a:xfrm>
            <a:custGeom>
              <a:avLst/>
              <a:gdLst/>
              <a:ahLst/>
              <a:cxnLst/>
              <a:rect l="l" t="t" r="r" b="b"/>
              <a:pathLst>
                <a:path w="859105" h="864291">
                  <a:moveTo>
                    <a:pt x="428798" y="1"/>
                  </a:moveTo>
                  <a:cubicBezTo>
                    <a:pt x="191563" y="415"/>
                    <a:pt x="-416" y="194228"/>
                    <a:pt x="1" y="432895"/>
                  </a:cubicBezTo>
                  <a:cubicBezTo>
                    <a:pt x="417" y="671562"/>
                    <a:pt x="193072" y="864704"/>
                    <a:pt x="430307" y="864290"/>
                  </a:cubicBezTo>
                  <a:cubicBezTo>
                    <a:pt x="667542" y="863876"/>
                    <a:pt x="859521" y="670063"/>
                    <a:pt x="859105" y="431396"/>
                  </a:cubicBezTo>
                  <a:cubicBezTo>
                    <a:pt x="858688" y="192729"/>
                    <a:pt x="666033" y="-413"/>
                    <a:pt x="428798" y="1"/>
                  </a:cubicBezTo>
                  <a:close/>
                </a:path>
              </a:pathLst>
            </a:custGeom>
            <a:blipFill>
              <a:blip r:embed="rId2"/>
              <a:stretch>
                <a:fillRect l="-70142" b="-1267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6226235" y="8069226"/>
            <a:ext cx="1575244" cy="1486457"/>
          </a:xfrm>
          <a:custGeom>
            <a:avLst/>
            <a:gdLst/>
            <a:ahLst/>
            <a:cxnLst/>
            <a:rect l="l" t="t" r="r" b="b"/>
            <a:pathLst>
              <a:path w="1575244" h="1486457">
                <a:moveTo>
                  <a:pt x="0" y="0"/>
                </a:moveTo>
                <a:lnTo>
                  <a:pt x="1575244" y="0"/>
                </a:lnTo>
                <a:lnTo>
                  <a:pt x="1575244" y="1486457"/>
                </a:lnTo>
                <a:lnTo>
                  <a:pt x="0" y="1486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5240" y="9029331"/>
            <a:ext cx="18288001" cy="133386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19563414" y="0"/>
                </a:moveTo>
                <a:lnTo>
                  <a:pt x="0" y="0"/>
                </a:lnTo>
                <a:lnTo>
                  <a:pt x="0" y="1333870"/>
                </a:lnTo>
                <a:lnTo>
                  <a:pt x="19563414" y="1333870"/>
                </a:lnTo>
                <a:lnTo>
                  <a:pt x="195634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79298" y="1519845"/>
            <a:ext cx="9499634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7475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291" y="3772813"/>
            <a:ext cx="9154973" cy="576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07"/>
              </a:lnSpc>
            </a:pPr>
            <a:r>
              <a:rPr lang="en-US" sz="37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1)Predicts diseases using Machine </a:t>
            </a:r>
          </a:p>
          <a:p>
            <a:pPr algn="just">
              <a:lnSpc>
                <a:spcPts val="4507"/>
              </a:lnSpc>
            </a:pPr>
            <a:r>
              <a:rPr lang="en-US" sz="37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Learning</a:t>
            </a:r>
          </a:p>
          <a:p>
            <a:pPr algn="just">
              <a:lnSpc>
                <a:spcPts val="4507"/>
              </a:lnSpc>
            </a:pPr>
            <a:endParaRPr lang="en-US" sz="37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07"/>
              </a:lnSpc>
            </a:pPr>
            <a:r>
              <a:rPr lang="en-US" sz="37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2)Uses patient medical data</a:t>
            </a:r>
          </a:p>
          <a:p>
            <a:pPr algn="just">
              <a:lnSpc>
                <a:spcPts val="4507"/>
              </a:lnSpc>
            </a:pPr>
            <a:endParaRPr lang="en-US" sz="37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07"/>
              </a:lnSpc>
            </a:pPr>
            <a:r>
              <a:rPr lang="en-US" sz="37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3)Helps in early disease detection</a:t>
            </a:r>
          </a:p>
          <a:p>
            <a:pPr algn="just">
              <a:lnSpc>
                <a:spcPts val="4507"/>
              </a:lnSpc>
            </a:pPr>
            <a:endParaRPr lang="en-US" sz="37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507"/>
              </a:lnSpc>
            </a:pPr>
            <a:r>
              <a:rPr lang="en-US" sz="37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4)Diseases : Diabetes, Heart Disease,   </a:t>
            </a:r>
          </a:p>
          <a:p>
            <a:pPr algn="just">
              <a:lnSpc>
                <a:spcPts val="4507"/>
              </a:lnSpc>
            </a:pPr>
            <a:r>
              <a:rPr lang="en-US" sz="37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Parkinson’s</a:t>
            </a:r>
          </a:p>
          <a:p>
            <a:pPr algn="just">
              <a:lnSpc>
                <a:spcPts val="4507"/>
              </a:lnSpc>
            </a:pPr>
            <a:endParaRPr lang="en-US" sz="37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00133" y="-3060238"/>
            <a:ext cx="16281406" cy="16407476"/>
            <a:chOff x="0" y="0"/>
            <a:chExt cx="839385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9385" cy="812800"/>
            </a:xfrm>
            <a:custGeom>
              <a:avLst/>
              <a:gdLst/>
              <a:ahLst/>
              <a:cxnLst/>
              <a:rect l="l" t="t" r="r" b="b"/>
              <a:pathLst>
                <a:path w="839385" h="812800">
                  <a:moveTo>
                    <a:pt x="419693" y="0"/>
                  </a:moveTo>
                  <a:cubicBezTo>
                    <a:pt x="187903" y="0"/>
                    <a:pt x="0" y="181951"/>
                    <a:pt x="0" y="406400"/>
                  </a:cubicBezTo>
                  <a:cubicBezTo>
                    <a:pt x="0" y="630849"/>
                    <a:pt x="187903" y="812800"/>
                    <a:pt x="419693" y="812800"/>
                  </a:cubicBezTo>
                  <a:cubicBezTo>
                    <a:pt x="651482" y="812800"/>
                    <a:pt x="839385" y="630849"/>
                    <a:pt x="839385" y="406400"/>
                  </a:cubicBezTo>
                  <a:cubicBezTo>
                    <a:pt x="839385" y="181951"/>
                    <a:pt x="651482" y="0"/>
                    <a:pt x="4196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8692" y="38100"/>
              <a:ext cx="6820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53764" y="4832627"/>
            <a:ext cx="7728753" cy="4364865"/>
            <a:chOff x="0" y="0"/>
            <a:chExt cx="1526160" cy="8619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6160" cy="861909"/>
            </a:xfrm>
            <a:custGeom>
              <a:avLst/>
              <a:gdLst/>
              <a:ahLst/>
              <a:cxnLst/>
              <a:rect l="l" t="t" r="r" b="b"/>
              <a:pathLst>
                <a:path w="1526160" h="861909">
                  <a:moveTo>
                    <a:pt x="0" y="0"/>
                  </a:moveTo>
                  <a:lnTo>
                    <a:pt x="1526160" y="0"/>
                  </a:lnTo>
                  <a:lnTo>
                    <a:pt x="1526160" y="861909"/>
                  </a:lnTo>
                  <a:lnTo>
                    <a:pt x="0" y="861909"/>
                  </a:lnTo>
                  <a:close/>
                </a:path>
              </a:pathLst>
            </a:custGeom>
            <a:blipFill>
              <a:blip r:embed="rId2"/>
              <a:stretch>
                <a:fillRect l="-200" r="-20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121398" y="1028700"/>
            <a:ext cx="8735726" cy="4126740"/>
            <a:chOff x="0" y="0"/>
            <a:chExt cx="1725003" cy="8148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5003" cy="814888"/>
            </a:xfrm>
            <a:custGeom>
              <a:avLst/>
              <a:gdLst/>
              <a:ahLst/>
              <a:cxnLst/>
              <a:rect l="l" t="t" r="r" b="b"/>
              <a:pathLst>
                <a:path w="1725003" h="814888">
                  <a:moveTo>
                    <a:pt x="20383" y="0"/>
                  </a:moveTo>
                  <a:lnTo>
                    <a:pt x="1704619" y="0"/>
                  </a:lnTo>
                  <a:cubicBezTo>
                    <a:pt x="1715877" y="0"/>
                    <a:pt x="1725003" y="9126"/>
                    <a:pt x="1725003" y="20383"/>
                  </a:cubicBezTo>
                  <a:lnTo>
                    <a:pt x="1725003" y="794504"/>
                  </a:lnTo>
                  <a:cubicBezTo>
                    <a:pt x="1725003" y="805762"/>
                    <a:pt x="1715877" y="814888"/>
                    <a:pt x="1704619" y="814888"/>
                  </a:cubicBezTo>
                  <a:lnTo>
                    <a:pt x="20383" y="814888"/>
                  </a:lnTo>
                  <a:cubicBezTo>
                    <a:pt x="9126" y="814888"/>
                    <a:pt x="0" y="805762"/>
                    <a:pt x="0" y="794504"/>
                  </a:cubicBezTo>
                  <a:lnTo>
                    <a:pt x="0" y="20383"/>
                  </a:lnTo>
                  <a:cubicBezTo>
                    <a:pt x="0" y="9126"/>
                    <a:pt x="9126" y="0"/>
                    <a:pt x="20383" y="0"/>
                  </a:cubicBezTo>
                  <a:close/>
                </a:path>
              </a:pathLst>
            </a:custGeom>
            <a:solidFill>
              <a:srgbClr val="64A4C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-1371599" y="1415794"/>
            <a:ext cx="7467599" cy="271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04"/>
              </a:lnSpc>
            </a:pPr>
            <a:r>
              <a:rPr lang="en-US" sz="8837" dirty="0">
                <a:solidFill>
                  <a:srgbClr val="10425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8009" y="1387219"/>
            <a:ext cx="7881291" cy="33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05"/>
              </a:lnSpc>
              <a:spcBef>
                <a:spcPct val="0"/>
              </a:spcBef>
            </a:pPr>
            <a:r>
              <a:rPr lang="en-US" sz="3171">
                <a:solidFill>
                  <a:srgbClr val="0D1216"/>
                </a:solidFill>
                <a:latin typeface="Poppins"/>
                <a:ea typeface="Poppins"/>
                <a:cs typeface="Poppins"/>
                <a:sym typeface="Poppins"/>
              </a:rPr>
              <a:t>Healthcare systems face several challenges in early disease detection. Many serious diseases such as diabetes, heart disease, and Parkinson’s are often diagnosed at a later stage when symptoms become severe.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79097" y="6201341"/>
            <a:ext cx="8479115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034" lvl="1" indent="-285017" algn="just">
              <a:lnSpc>
                <a:spcPts val="3168"/>
              </a:lnSpc>
              <a:buFont typeface="Arial"/>
              <a:buChar char="•"/>
            </a:pPr>
            <a:r>
              <a:rPr lang="en-US" sz="264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diagnosis can take significant time and requires expert medical analysis.</a:t>
            </a:r>
          </a:p>
          <a:p>
            <a:pPr marL="570034" lvl="1" indent="-285017" algn="just">
              <a:lnSpc>
                <a:spcPts val="3168"/>
              </a:lnSpc>
              <a:buFont typeface="Arial"/>
              <a:buChar char="•"/>
            </a:pPr>
            <a:r>
              <a:rPr lang="en-US" sz="264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Many people do not get regular health checkups, leading to late detection of diseases.</a:t>
            </a:r>
          </a:p>
          <a:p>
            <a:pPr marL="570034" lvl="1" indent="-285017" algn="just">
              <a:lnSpc>
                <a:spcPts val="3168"/>
              </a:lnSpc>
              <a:buFont typeface="Arial"/>
              <a:buChar char="•"/>
            </a:pPr>
            <a:r>
              <a:rPr lang="en-US" sz="264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Large amounts of medical data are available but are not efficiently used for prediction</a:t>
            </a:r>
          </a:p>
          <a:p>
            <a:pPr marL="0" lvl="0" indent="0" algn="just">
              <a:lnSpc>
                <a:spcPts val="3168"/>
              </a:lnSpc>
              <a:spcBef>
                <a:spcPct val="0"/>
              </a:spcBef>
            </a:pPr>
            <a:endParaRPr lang="en-US" sz="264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Freeform 12"/>
          <p:cNvSpPr/>
          <p:nvPr/>
        </p:nvSpPr>
        <p:spPr>
          <a:xfrm flipH="1">
            <a:off x="-5410200" y="9677359"/>
            <a:ext cx="23698200" cy="1314675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19563414" y="0"/>
                </a:moveTo>
                <a:lnTo>
                  <a:pt x="0" y="0"/>
                </a:lnTo>
                <a:lnTo>
                  <a:pt x="0" y="1333870"/>
                </a:lnTo>
                <a:lnTo>
                  <a:pt x="19563414" y="1333870"/>
                </a:lnTo>
                <a:lnTo>
                  <a:pt x="195634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991930" y="5364383"/>
            <a:ext cx="370526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Problem-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9" y="1997271"/>
            <a:ext cx="17921215" cy="6955860"/>
            <a:chOff x="0" y="0"/>
            <a:chExt cx="2136096" cy="8290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6096" cy="829095"/>
            </a:xfrm>
            <a:custGeom>
              <a:avLst/>
              <a:gdLst/>
              <a:ahLst/>
              <a:cxnLst/>
              <a:rect l="l" t="t" r="r" b="b"/>
              <a:pathLst>
                <a:path w="2136096" h="829095">
                  <a:moveTo>
                    <a:pt x="9936" y="0"/>
                  </a:moveTo>
                  <a:lnTo>
                    <a:pt x="2126160" y="0"/>
                  </a:lnTo>
                  <a:cubicBezTo>
                    <a:pt x="2131648" y="0"/>
                    <a:pt x="2136096" y="4448"/>
                    <a:pt x="2136096" y="9936"/>
                  </a:cubicBezTo>
                  <a:lnTo>
                    <a:pt x="2136096" y="819159"/>
                  </a:lnTo>
                  <a:cubicBezTo>
                    <a:pt x="2136096" y="821794"/>
                    <a:pt x="2135050" y="824321"/>
                    <a:pt x="2133186" y="826185"/>
                  </a:cubicBezTo>
                  <a:cubicBezTo>
                    <a:pt x="2131323" y="828048"/>
                    <a:pt x="2128796" y="829095"/>
                    <a:pt x="2126160" y="829095"/>
                  </a:cubicBezTo>
                  <a:lnTo>
                    <a:pt x="9936" y="829095"/>
                  </a:lnTo>
                  <a:cubicBezTo>
                    <a:pt x="4448" y="829095"/>
                    <a:pt x="0" y="824646"/>
                    <a:pt x="0" y="819159"/>
                  </a:cubicBezTo>
                  <a:lnTo>
                    <a:pt x="0" y="9936"/>
                  </a:lnTo>
                  <a:cubicBezTo>
                    <a:pt x="0" y="4448"/>
                    <a:pt x="4448" y="0"/>
                    <a:pt x="9936" y="0"/>
                  </a:cubicBezTo>
                  <a:close/>
                </a:path>
              </a:pathLst>
            </a:custGeom>
            <a:solidFill>
              <a:srgbClr val="74BEE3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8953131"/>
            <a:ext cx="18288000" cy="133386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0" y="0"/>
                </a:moveTo>
                <a:lnTo>
                  <a:pt x="19563414" y="0"/>
                </a:lnTo>
                <a:lnTo>
                  <a:pt x="19563414" y="1333869"/>
                </a:lnTo>
                <a:lnTo>
                  <a:pt x="0" y="1333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7567" y="511724"/>
            <a:ext cx="6987442" cy="111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sz="781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OBJECTIVES -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9539" y="2347087"/>
            <a:ext cx="16251431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182A3D"/>
                </a:solidFill>
                <a:latin typeface="Canva Sans"/>
                <a:ea typeface="Canva Sans"/>
                <a:cs typeface="Canva Sans"/>
                <a:sym typeface="Canva Sans"/>
              </a:rPr>
              <a:t>• To develop a machine learning based system that can predict multiple diseases.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275" y="3456051"/>
            <a:ext cx="17508923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 analyze patient medical data such as glucose level, blood pressure, heart rate, etc.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39207" y="4565397"/>
            <a:ext cx="1750892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 build separate prediction models for diseases like Diabetes, Heart Disease, and Parkinson’s.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6275" y="5787083"/>
            <a:ext cx="1750892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 create a user-friendly web interface where users can enter their health parameters.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679" y="6896428"/>
            <a:ext cx="1750892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 provide quick and accurate disease prediction for early detection and prevention.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7858105"/>
            <a:ext cx="1750892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 demonstrate how Artificial Intelligence can support healthcare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9537" y="2191822"/>
            <a:ext cx="17938463" cy="7791977"/>
            <a:chOff x="0" y="0"/>
            <a:chExt cx="4241105" cy="18422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41105" cy="1842220"/>
            </a:xfrm>
            <a:custGeom>
              <a:avLst/>
              <a:gdLst/>
              <a:ahLst/>
              <a:cxnLst/>
              <a:rect l="l" t="t" r="r" b="b"/>
              <a:pathLst>
                <a:path w="4241105" h="1842220">
                  <a:moveTo>
                    <a:pt x="25895" y="0"/>
                  </a:moveTo>
                  <a:lnTo>
                    <a:pt x="4215211" y="0"/>
                  </a:lnTo>
                  <a:cubicBezTo>
                    <a:pt x="4229512" y="0"/>
                    <a:pt x="4241105" y="11594"/>
                    <a:pt x="4241105" y="25895"/>
                  </a:cubicBezTo>
                  <a:lnTo>
                    <a:pt x="4241105" y="1816325"/>
                  </a:lnTo>
                  <a:cubicBezTo>
                    <a:pt x="4241105" y="1830627"/>
                    <a:pt x="4229512" y="1842220"/>
                    <a:pt x="4215211" y="1842220"/>
                  </a:cubicBezTo>
                  <a:lnTo>
                    <a:pt x="25895" y="1842220"/>
                  </a:lnTo>
                  <a:cubicBezTo>
                    <a:pt x="11594" y="1842220"/>
                    <a:pt x="0" y="1830627"/>
                    <a:pt x="0" y="1816325"/>
                  </a:cubicBezTo>
                  <a:lnTo>
                    <a:pt x="0" y="25895"/>
                  </a:lnTo>
                  <a:cubicBezTo>
                    <a:pt x="0" y="11594"/>
                    <a:pt x="11594" y="0"/>
                    <a:pt x="25895" y="0"/>
                  </a:cubicBezTo>
                  <a:close/>
                </a:path>
              </a:pathLst>
            </a:custGeom>
            <a:solidFill>
              <a:srgbClr val="74BE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41105" cy="1880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2" y="9710985"/>
            <a:ext cx="18288001" cy="128104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19563414" y="0"/>
                </a:moveTo>
                <a:lnTo>
                  <a:pt x="0" y="0"/>
                </a:lnTo>
                <a:lnTo>
                  <a:pt x="0" y="1333870"/>
                </a:lnTo>
                <a:lnTo>
                  <a:pt x="19563414" y="1333870"/>
                </a:lnTo>
                <a:lnTo>
                  <a:pt x="195634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700847" y="163783"/>
            <a:ext cx="1756940" cy="17569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041959" y="376278"/>
            <a:ext cx="1074716" cy="1304843"/>
          </a:xfrm>
          <a:custGeom>
            <a:avLst/>
            <a:gdLst/>
            <a:ahLst/>
            <a:cxnLst/>
            <a:rect l="l" t="t" r="r" b="b"/>
            <a:pathLst>
              <a:path w="1074716" h="1304843">
                <a:moveTo>
                  <a:pt x="0" y="0"/>
                </a:moveTo>
                <a:lnTo>
                  <a:pt x="1074716" y="0"/>
                </a:lnTo>
                <a:lnTo>
                  <a:pt x="1074716" y="1304844"/>
                </a:lnTo>
                <a:lnTo>
                  <a:pt x="0" y="1304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3546" y="153876"/>
            <a:ext cx="7449201" cy="203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4"/>
              </a:lnSpc>
            </a:pPr>
            <a:r>
              <a:rPr lang="en-US" sz="6678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DATASET  </a:t>
            </a:r>
          </a:p>
          <a:p>
            <a:pPr algn="l">
              <a:lnSpc>
                <a:spcPts val="8014"/>
              </a:lnSpc>
            </a:pPr>
            <a:r>
              <a:rPr lang="en-US" sz="6678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DESCRIPTION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5917060" y="789099"/>
            <a:ext cx="1689496" cy="479202"/>
          </a:xfrm>
          <a:custGeom>
            <a:avLst/>
            <a:gdLst/>
            <a:ahLst/>
            <a:cxnLst/>
            <a:rect l="l" t="t" r="r" b="b"/>
            <a:pathLst>
              <a:path w="1689496" h="479202">
                <a:moveTo>
                  <a:pt x="0" y="0"/>
                </a:moveTo>
                <a:lnTo>
                  <a:pt x="1689495" y="0"/>
                </a:lnTo>
                <a:lnTo>
                  <a:pt x="1689495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3482" y="2298227"/>
            <a:ext cx="17015818" cy="228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2"/>
              </a:lnSpc>
            </a:pPr>
            <a:r>
              <a:rPr lang="en-US" sz="360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Source:</a:t>
            </a:r>
          </a:p>
          <a:p>
            <a:pPr algn="ctr">
              <a:lnSpc>
                <a:spcPts val="3642"/>
              </a:lnSpc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Datasets are collected from Kaggle, which provides open datasets for machine learning and data science projects.</a:t>
            </a:r>
          </a:p>
          <a:p>
            <a:pPr algn="ctr">
              <a:lnSpc>
                <a:spcPts val="2927"/>
              </a:lnSpc>
            </a:pPr>
            <a:endParaRPr lang="en-US" sz="260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927"/>
              </a:lnSpc>
            </a:pPr>
            <a:endParaRPr lang="en-US" sz="260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4681" y="4132625"/>
            <a:ext cx="40646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🩸 Diabetes Dataset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67605" y="4132625"/>
            <a:ext cx="5094924" cy="8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❤️ Heart Disease Dataset</a:t>
            </a:r>
          </a:p>
          <a:p>
            <a:pPr algn="ctr">
              <a:lnSpc>
                <a:spcPts val="2473"/>
              </a:lnSpc>
            </a:pPr>
            <a:endParaRPr lang="en-US" sz="3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00779" y="4132625"/>
            <a:ext cx="4646150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🧠 Parkinson’s Dataset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095875"/>
            <a:ext cx="4122591" cy="435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5"/>
              </a:lnSpc>
            </a:pPr>
            <a:r>
              <a:rPr lang="en-US" sz="273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Attributes:</a:t>
            </a:r>
            <a:r>
              <a:rPr lang="en-US" sz="27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Glucose, Blood Pressure, BMI, Insulin, Age</a:t>
            </a:r>
          </a:p>
          <a:p>
            <a:pPr algn="ctr">
              <a:lnSpc>
                <a:spcPts val="3835"/>
              </a:lnSpc>
            </a:pPr>
            <a:endParaRPr lang="en-US" sz="273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835"/>
              </a:lnSpc>
            </a:pPr>
            <a:r>
              <a:rPr lang="en-US" sz="27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Used to predict whether a person is diabetic or not.</a:t>
            </a:r>
          </a:p>
          <a:p>
            <a:pPr algn="ctr">
              <a:lnSpc>
                <a:spcPts val="3835"/>
              </a:lnSpc>
            </a:pPr>
            <a:endParaRPr lang="en-US" sz="273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835"/>
              </a:lnSpc>
            </a:pPr>
            <a:endParaRPr lang="en-US" sz="273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067605" y="5258567"/>
            <a:ext cx="5094924" cy="312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  <a:spcBef>
                <a:spcPct val="0"/>
              </a:spcBef>
            </a:pPr>
            <a:r>
              <a:rPr lang="en-US" sz="298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Attributes:</a:t>
            </a:r>
            <a:r>
              <a:rPr lang="en-US" sz="29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Age, Chest Pain, Cholesterol, Blood Pressure, Heart Rate</a:t>
            </a:r>
          </a:p>
          <a:p>
            <a:pPr algn="ctr">
              <a:lnSpc>
                <a:spcPts val="4176"/>
              </a:lnSpc>
              <a:spcBef>
                <a:spcPct val="0"/>
              </a:spcBef>
            </a:pPr>
            <a:endParaRPr lang="en-US" sz="298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76"/>
              </a:lnSpc>
              <a:spcBef>
                <a:spcPct val="0"/>
              </a:spcBef>
            </a:pPr>
            <a:r>
              <a:rPr lang="en-US" sz="29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to identify the risk of heart disease.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76929" y="5354112"/>
            <a:ext cx="5380857" cy="294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281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Attributes: </a:t>
            </a:r>
            <a:r>
              <a:rPr lang="en-US" sz="281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Voice Frequency, Jitter, Shimmer</a:t>
            </a:r>
          </a:p>
          <a:p>
            <a:pPr algn="ctr">
              <a:lnSpc>
                <a:spcPts val="3941"/>
              </a:lnSpc>
            </a:pPr>
            <a:endParaRPr lang="en-US" sz="281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941"/>
              </a:lnSpc>
            </a:pPr>
            <a:r>
              <a:rPr lang="en-US" sz="281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to detect symptoms of Parkinson’s disease.</a:t>
            </a:r>
          </a:p>
          <a:p>
            <a:pPr algn="ctr">
              <a:lnSpc>
                <a:spcPts val="3941"/>
              </a:lnSpc>
            </a:pPr>
            <a:endParaRPr lang="en-US" sz="281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9218560"/>
            <a:ext cx="18288001" cy="133386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0" y="0"/>
                </a:moveTo>
                <a:lnTo>
                  <a:pt x="19563414" y="0"/>
                </a:lnTo>
                <a:lnTo>
                  <a:pt x="19563414" y="1333869"/>
                </a:lnTo>
                <a:lnTo>
                  <a:pt x="0" y="1333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44114" y="721724"/>
            <a:ext cx="11781286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7175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SYSTEM  WORKFLOW-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415574-9A15-713D-61F8-88BE1EA197F1}"/>
              </a:ext>
            </a:extLst>
          </p:cNvPr>
          <p:cNvSpPr/>
          <p:nvPr/>
        </p:nvSpPr>
        <p:spPr>
          <a:xfrm>
            <a:off x="7170490" y="2348191"/>
            <a:ext cx="4259510" cy="1835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DATA PREPROCESSING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BDBF9-99C7-2839-3E2B-584670A3EDF8}"/>
              </a:ext>
            </a:extLst>
          </p:cNvPr>
          <p:cNvSpPr/>
          <p:nvPr/>
        </p:nvSpPr>
        <p:spPr>
          <a:xfrm>
            <a:off x="13182600" y="2282651"/>
            <a:ext cx="3763296" cy="18188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MODEL</a:t>
            </a:r>
          </a:p>
          <a:p>
            <a:pPr algn="ctr"/>
            <a:r>
              <a:rPr lang="en-IN" sz="4400" b="1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46DBDC-B872-A9BF-2246-855AE42F91D5}"/>
              </a:ext>
            </a:extLst>
          </p:cNvPr>
          <p:cNvSpPr/>
          <p:nvPr/>
        </p:nvSpPr>
        <p:spPr>
          <a:xfrm>
            <a:off x="13381702" y="6185453"/>
            <a:ext cx="3581400" cy="16299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USER INPUT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21755BF-FF27-8833-01D4-BB54326B0F12}"/>
              </a:ext>
            </a:extLst>
          </p:cNvPr>
          <p:cNvSpPr/>
          <p:nvPr/>
        </p:nvSpPr>
        <p:spPr>
          <a:xfrm>
            <a:off x="5193792" y="27435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062BF72-40A2-F873-4047-BEF8400F379E}"/>
              </a:ext>
            </a:extLst>
          </p:cNvPr>
          <p:cNvSpPr/>
          <p:nvPr/>
        </p:nvSpPr>
        <p:spPr>
          <a:xfrm>
            <a:off x="11746992" y="27435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8E00F633-FA0F-6CDF-C260-CA787D3A0FCE}"/>
              </a:ext>
            </a:extLst>
          </p:cNvPr>
          <p:cNvSpPr/>
          <p:nvPr/>
        </p:nvSpPr>
        <p:spPr>
          <a:xfrm>
            <a:off x="14807184" y="4543167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3464D1-88A8-8109-2451-3D7C7300ACCB}"/>
              </a:ext>
            </a:extLst>
          </p:cNvPr>
          <p:cNvSpPr/>
          <p:nvPr/>
        </p:nvSpPr>
        <p:spPr>
          <a:xfrm>
            <a:off x="7162800" y="6185453"/>
            <a:ext cx="3810000" cy="17078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PREDICTION PROCESS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EECE0125-BF40-1D8F-F5A2-DFDA2F2739F6}"/>
              </a:ext>
            </a:extLst>
          </p:cNvPr>
          <p:cNvSpPr/>
          <p:nvPr/>
        </p:nvSpPr>
        <p:spPr>
          <a:xfrm rot="5400000">
            <a:off x="5702406" y="6299094"/>
            <a:ext cx="666792" cy="12512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0C406E-5ECD-D834-FB62-0157058F253F}"/>
              </a:ext>
            </a:extLst>
          </p:cNvPr>
          <p:cNvSpPr/>
          <p:nvPr/>
        </p:nvSpPr>
        <p:spPr>
          <a:xfrm>
            <a:off x="944114" y="6061659"/>
            <a:ext cx="4181098" cy="1753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</a:t>
            </a:r>
            <a:r>
              <a:rPr lang="en-IN" sz="3600" b="1" dirty="0">
                <a:solidFill>
                  <a:schemeClr val="tx1"/>
                </a:solidFill>
              </a:rPr>
              <a:t>ISEASE  PREDICTION RESULT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49F3A4D-7526-94C2-3026-5045DBC48A59}"/>
              </a:ext>
            </a:extLst>
          </p:cNvPr>
          <p:cNvSpPr/>
          <p:nvPr/>
        </p:nvSpPr>
        <p:spPr>
          <a:xfrm rot="5400000">
            <a:off x="11686823" y="6162265"/>
            <a:ext cx="609542" cy="1467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EA8876-6173-2587-EF1A-37E48D792FD7}"/>
              </a:ext>
            </a:extLst>
          </p:cNvPr>
          <p:cNvSpPr/>
          <p:nvPr/>
        </p:nvSpPr>
        <p:spPr>
          <a:xfrm>
            <a:off x="1177510" y="2348191"/>
            <a:ext cx="3470690" cy="17533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DATASET COLLECTION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6570" y="1621876"/>
            <a:ext cx="7817430" cy="7537115"/>
            <a:chOff x="0" y="0"/>
            <a:chExt cx="1549665" cy="1494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9665" cy="1494097"/>
            </a:xfrm>
            <a:custGeom>
              <a:avLst/>
              <a:gdLst/>
              <a:ahLst/>
              <a:cxnLst/>
              <a:rect l="l" t="t" r="r" b="b"/>
              <a:pathLst>
                <a:path w="1549665" h="1494097">
                  <a:moveTo>
                    <a:pt x="22778" y="0"/>
                  </a:moveTo>
                  <a:lnTo>
                    <a:pt x="1526887" y="0"/>
                  </a:lnTo>
                  <a:cubicBezTo>
                    <a:pt x="1539466" y="0"/>
                    <a:pt x="1549665" y="10198"/>
                    <a:pt x="1549665" y="22778"/>
                  </a:cubicBezTo>
                  <a:lnTo>
                    <a:pt x="1549665" y="1471319"/>
                  </a:lnTo>
                  <a:cubicBezTo>
                    <a:pt x="1549665" y="1483899"/>
                    <a:pt x="1539466" y="1494097"/>
                    <a:pt x="1526887" y="1494097"/>
                  </a:cubicBezTo>
                  <a:lnTo>
                    <a:pt x="22778" y="1494097"/>
                  </a:lnTo>
                  <a:cubicBezTo>
                    <a:pt x="10198" y="1494097"/>
                    <a:pt x="0" y="1483899"/>
                    <a:pt x="0" y="1471319"/>
                  </a:cubicBezTo>
                  <a:lnTo>
                    <a:pt x="0" y="22778"/>
                  </a:lnTo>
                  <a:cubicBezTo>
                    <a:pt x="0" y="10198"/>
                    <a:pt x="10198" y="0"/>
                    <a:pt x="22778" y="0"/>
                  </a:cubicBezTo>
                  <a:close/>
                </a:path>
              </a:pathLst>
            </a:custGeom>
            <a:solidFill>
              <a:srgbClr val="74BEE3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6771751" y="511724"/>
            <a:ext cx="1181100" cy="1110151"/>
          </a:xfrm>
          <a:custGeom>
            <a:avLst/>
            <a:gdLst/>
            <a:ahLst/>
            <a:cxnLst/>
            <a:rect l="l" t="t" r="r" b="b"/>
            <a:pathLst>
              <a:path w="1904186" h="1796859">
                <a:moveTo>
                  <a:pt x="0" y="0"/>
                </a:moveTo>
                <a:lnTo>
                  <a:pt x="1904186" y="0"/>
                </a:lnTo>
                <a:lnTo>
                  <a:pt x="1904186" y="1796859"/>
                </a:lnTo>
                <a:lnTo>
                  <a:pt x="0" y="1796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9897" y="511724"/>
            <a:ext cx="1206790" cy="937717"/>
          </a:xfrm>
          <a:custGeom>
            <a:avLst/>
            <a:gdLst/>
            <a:ahLst/>
            <a:cxnLst/>
            <a:rect l="l" t="t" r="r" b="b"/>
            <a:pathLst>
              <a:path w="1904186" h="1796859">
                <a:moveTo>
                  <a:pt x="0" y="0"/>
                </a:moveTo>
                <a:lnTo>
                  <a:pt x="1904186" y="0"/>
                </a:lnTo>
                <a:lnTo>
                  <a:pt x="1904186" y="1796858"/>
                </a:lnTo>
                <a:lnTo>
                  <a:pt x="0" y="1796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86803" y="2065726"/>
            <a:ext cx="7749236" cy="786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9"/>
              </a:lnSpc>
            </a:pPr>
            <a:r>
              <a:rPr lang="en-US" sz="28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Tools Used:</a:t>
            </a:r>
          </a:p>
          <a:p>
            <a:pPr marL="498373" lvl="1" indent="-249186" algn="just">
              <a:lnSpc>
                <a:spcPts val="2770"/>
              </a:lnSpc>
              <a:buFont typeface="Arial"/>
              <a:buChar char="•"/>
            </a:pPr>
            <a:r>
              <a:rPr lang="en-US" sz="23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Google Colab</a:t>
            </a:r>
          </a:p>
          <a:p>
            <a:pPr marL="498373" lvl="1" indent="-249186" algn="just">
              <a:lnSpc>
                <a:spcPts val="2770"/>
              </a:lnSpc>
              <a:buFont typeface="Arial"/>
              <a:buChar char="•"/>
            </a:pPr>
            <a:r>
              <a:rPr lang="en-US" sz="23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Jupyter Notebook Environment</a:t>
            </a:r>
          </a:p>
          <a:p>
            <a:pPr marL="498373" lvl="1" indent="-249186" algn="just">
              <a:lnSpc>
                <a:spcPts val="2770"/>
              </a:lnSpc>
              <a:buFont typeface="Arial"/>
              <a:buChar char="•"/>
            </a:pPr>
            <a:r>
              <a:rPr lang="en-US" sz="23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Python Programming Language</a:t>
            </a:r>
          </a:p>
          <a:p>
            <a:pPr algn="just">
              <a:lnSpc>
                <a:spcPts val="3130"/>
              </a:lnSpc>
            </a:pPr>
            <a:r>
              <a:rPr lang="en-US" sz="26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 Libraries Used: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Pandas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→ For data cleaning and preprocessing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NumPy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→ For numerical computations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Matplotlib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→ For data visualization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Seaborn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→ For statistical graphs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Scikit-learn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→ For:</a:t>
            </a:r>
          </a:p>
          <a:p>
            <a:pPr marL="953567" lvl="2" indent="-317856" algn="just">
              <a:lnSpc>
                <a:spcPts val="2650"/>
              </a:lnSpc>
              <a:buFont typeface="Arial"/>
              <a:buChar char="⚬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Data splitting</a:t>
            </a:r>
          </a:p>
          <a:p>
            <a:pPr marL="953567" lvl="2" indent="-317856" algn="just">
              <a:lnSpc>
                <a:spcPts val="2650"/>
              </a:lnSpc>
              <a:buFont typeface="Arial"/>
              <a:buChar char="⚬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Encoding</a:t>
            </a:r>
          </a:p>
          <a:p>
            <a:pPr marL="953567" lvl="2" indent="-317856" algn="just">
              <a:lnSpc>
                <a:spcPts val="2650"/>
              </a:lnSpc>
              <a:buFont typeface="Arial"/>
              <a:buChar char="⚬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Linear Regression Model</a:t>
            </a:r>
          </a:p>
          <a:p>
            <a:pPr marL="953567" lvl="2" indent="-317856" algn="just">
              <a:lnSpc>
                <a:spcPts val="2650"/>
              </a:lnSpc>
              <a:buFont typeface="Arial"/>
              <a:buChar char="⚬"/>
            </a:pP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Model Evaluation</a:t>
            </a:r>
          </a:p>
          <a:p>
            <a:pPr marL="476783" lvl="1" indent="-238392" algn="just">
              <a:lnSpc>
                <a:spcPts val="2650"/>
              </a:lnSpc>
              <a:buFont typeface="Arial"/>
              <a:buChar char="•"/>
            </a:pPr>
            <a:r>
              <a:rPr lang="en-US" sz="2208" b="1">
                <a:solidFill>
                  <a:srgbClr val="0D1216"/>
                </a:solidFill>
                <a:latin typeface="Inter Bold"/>
                <a:ea typeface="Inter Bold"/>
                <a:cs typeface="Inter Bold"/>
                <a:sym typeface="Inter Bold"/>
              </a:rPr>
              <a:t>FRAMEWORK -</a:t>
            </a:r>
            <a:r>
              <a:rPr lang="en-US" sz="2208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  Streamlit</a:t>
            </a:r>
          </a:p>
          <a:p>
            <a:pPr algn="just">
              <a:lnSpc>
                <a:spcPts val="4111"/>
              </a:lnSpc>
            </a:pPr>
            <a:endParaRPr lang="en-US" sz="2208">
              <a:solidFill>
                <a:srgbClr val="0D121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ts val="4111"/>
              </a:lnSpc>
              <a:spcBef>
                <a:spcPct val="0"/>
              </a:spcBef>
            </a:pPr>
            <a:endParaRPr lang="en-US" sz="2208">
              <a:solidFill>
                <a:srgbClr val="0D121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" y="9258300"/>
            <a:ext cx="18288001" cy="133386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0" y="0"/>
                </a:moveTo>
                <a:lnTo>
                  <a:pt x="19563414" y="0"/>
                </a:lnTo>
                <a:lnTo>
                  <a:pt x="19563414" y="1333869"/>
                </a:lnTo>
                <a:lnTo>
                  <a:pt x="0" y="1333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137181" y="2634680"/>
            <a:ext cx="6364016" cy="1370502"/>
          </a:xfrm>
          <a:custGeom>
            <a:avLst/>
            <a:gdLst/>
            <a:ahLst/>
            <a:cxnLst/>
            <a:rect l="l" t="t" r="r" b="b"/>
            <a:pathLst>
              <a:path w="6364016" h="1370502">
                <a:moveTo>
                  <a:pt x="0" y="0"/>
                </a:moveTo>
                <a:lnTo>
                  <a:pt x="6364015" y="0"/>
                </a:lnTo>
                <a:lnTo>
                  <a:pt x="6364015" y="1370502"/>
                </a:lnTo>
                <a:lnTo>
                  <a:pt x="0" y="1370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248" r="-11015" b="-592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15662" y="4068278"/>
            <a:ext cx="6364016" cy="2393925"/>
          </a:xfrm>
          <a:custGeom>
            <a:avLst/>
            <a:gdLst/>
            <a:ahLst/>
            <a:cxnLst/>
            <a:rect l="l" t="t" r="r" b="b"/>
            <a:pathLst>
              <a:path w="6364016" h="2393925">
                <a:moveTo>
                  <a:pt x="0" y="0"/>
                </a:moveTo>
                <a:lnTo>
                  <a:pt x="6364015" y="0"/>
                </a:lnTo>
                <a:lnTo>
                  <a:pt x="6364015" y="2393925"/>
                </a:lnTo>
                <a:lnTo>
                  <a:pt x="0" y="2393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068" b="-389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135276" y="6547993"/>
            <a:ext cx="6573950" cy="1213613"/>
          </a:xfrm>
          <a:custGeom>
            <a:avLst/>
            <a:gdLst/>
            <a:ahLst/>
            <a:cxnLst/>
            <a:rect l="l" t="t" r="r" b="b"/>
            <a:pathLst>
              <a:path w="6573950" h="1213613">
                <a:moveTo>
                  <a:pt x="0" y="0"/>
                </a:moveTo>
                <a:lnTo>
                  <a:pt x="6573950" y="0"/>
                </a:lnTo>
                <a:lnTo>
                  <a:pt x="6573950" y="1213613"/>
                </a:lnTo>
                <a:lnTo>
                  <a:pt x="0" y="1213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05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86803" y="511724"/>
            <a:ext cx="13692236" cy="111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sz="781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TOOLS &amp;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038" y="1865665"/>
            <a:ext cx="18260961" cy="6875267"/>
            <a:chOff x="0" y="0"/>
            <a:chExt cx="5713526" cy="16970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3526" cy="1697061"/>
            </a:xfrm>
            <a:custGeom>
              <a:avLst/>
              <a:gdLst/>
              <a:ahLst/>
              <a:cxnLst/>
              <a:rect l="l" t="t" r="r" b="b"/>
              <a:pathLst>
                <a:path w="5713526" h="1697061">
                  <a:moveTo>
                    <a:pt x="0" y="0"/>
                  </a:moveTo>
                  <a:lnTo>
                    <a:pt x="5713526" y="0"/>
                  </a:lnTo>
                  <a:lnTo>
                    <a:pt x="5713526" y="1697061"/>
                  </a:lnTo>
                  <a:lnTo>
                    <a:pt x="0" y="1697061"/>
                  </a:lnTo>
                  <a:close/>
                </a:path>
              </a:pathLst>
            </a:custGeom>
            <a:solidFill>
              <a:srgbClr val="74BEE3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713526" cy="1735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" y="9258301"/>
            <a:ext cx="18288001" cy="1028700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0" y="0"/>
                </a:moveTo>
                <a:lnTo>
                  <a:pt x="19563414" y="0"/>
                </a:lnTo>
                <a:lnTo>
                  <a:pt x="19563414" y="1333869"/>
                </a:lnTo>
                <a:lnTo>
                  <a:pt x="0" y="1333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429306"/>
            <a:ext cx="17812076" cy="1074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7"/>
              </a:lnSpc>
            </a:pPr>
            <a:r>
              <a:rPr lang="en-US" sz="62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OUTCOMES AND FUTURE SCOPE -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" y="2380014"/>
            <a:ext cx="18288000" cy="2582190"/>
            <a:chOff x="0" y="0"/>
            <a:chExt cx="4011829" cy="5664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11829" cy="566454"/>
            </a:xfrm>
            <a:custGeom>
              <a:avLst/>
              <a:gdLst/>
              <a:ahLst/>
              <a:cxnLst/>
              <a:rect l="l" t="t" r="r" b="b"/>
              <a:pathLst>
                <a:path w="4011829" h="566454">
                  <a:moveTo>
                    <a:pt x="9737" y="0"/>
                  </a:moveTo>
                  <a:lnTo>
                    <a:pt x="4002092" y="0"/>
                  </a:lnTo>
                  <a:cubicBezTo>
                    <a:pt x="4007469" y="0"/>
                    <a:pt x="4011829" y="4359"/>
                    <a:pt x="4011829" y="9737"/>
                  </a:cubicBezTo>
                  <a:lnTo>
                    <a:pt x="4011829" y="556717"/>
                  </a:lnTo>
                  <a:cubicBezTo>
                    <a:pt x="4011829" y="562094"/>
                    <a:pt x="4007469" y="566454"/>
                    <a:pt x="4002092" y="566454"/>
                  </a:cubicBezTo>
                  <a:lnTo>
                    <a:pt x="9737" y="566454"/>
                  </a:lnTo>
                  <a:cubicBezTo>
                    <a:pt x="4359" y="566454"/>
                    <a:pt x="0" y="562094"/>
                    <a:pt x="0" y="556717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7038" y="2798558"/>
            <a:ext cx="18430025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• DEVELOPMENT OF A MACHINE LEARNING BASED SYSTEM THAT CAN PREDICT MULTIPLE DISEASES.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⚡• THE SYSTEM WILL PROVIDE QUICK AND ACCURATE DISEASE PREDICTION BASED ON PATIENT HEALTH PARAMETERS.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💻• USERS WILL BE ABLE TO ENTER MEDICAL DATA THROUGH A SIMPLE INTERFACE AND RECEIVE PREDICTION RESULTS.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        • THE PROJECT WILL DEMONSTRATE HOW MACHINE LEARNING CAN ASSIST IN EARLY DISEASE DETECTION AND HEALTHCARE SUPPORT.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5933468"/>
            <a:ext cx="18288000" cy="2353086"/>
            <a:chOff x="0" y="0"/>
            <a:chExt cx="4606311" cy="5664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06311" cy="566454"/>
            </a:xfrm>
            <a:custGeom>
              <a:avLst/>
              <a:gdLst/>
              <a:ahLst/>
              <a:cxnLst/>
              <a:rect l="l" t="t" r="r" b="b"/>
              <a:pathLst>
                <a:path w="4606311" h="566454">
                  <a:moveTo>
                    <a:pt x="9737" y="0"/>
                  </a:moveTo>
                  <a:lnTo>
                    <a:pt x="4596574" y="0"/>
                  </a:lnTo>
                  <a:cubicBezTo>
                    <a:pt x="4599157" y="0"/>
                    <a:pt x="4601633" y="1026"/>
                    <a:pt x="4603459" y="2852"/>
                  </a:cubicBezTo>
                  <a:cubicBezTo>
                    <a:pt x="4605285" y="4678"/>
                    <a:pt x="4606311" y="7154"/>
                    <a:pt x="4606311" y="9737"/>
                  </a:cubicBezTo>
                  <a:lnTo>
                    <a:pt x="4606311" y="556717"/>
                  </a:lnTo>
                  <a:cubicBezTo>
                    <a:pt x="4606311" y="562094"/>
                    <a:pt x="4601952" y="566454"/>
                    <a:pt x="4596574" y="566454"/>
                  </a:cubicBezTo>
                  <a:lnTo>
                    <a:pt x="9737" y="566454"/>
                  </a:lnTo>
                  <a:cubicBezTo>
                    <a:pt x="4359" y="566454"/>
                    <a:pt x="0" y="562094"/>
                    <a:pt x="0" y="556717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0" y="6214080"/>
            <a:ext cx="18288000" cy="200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2"/>
              </a:lnSpc>
              <a:spcBef>
                <a:spcPct val="0"/>
              </a:spcBef>
            </a:pPr>
            <a:r>
              <a:rPr lang="en-US" sz="2751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➕• THE SYSTEM CAN BE EXTENDED TO PREDICT MORE DISEASES BY ADDING ADDITIONAL MEDICAL DATASET.</a:t>
            </a:r>
          </a:p>
          <a:p>
            <a:pPr algn="ctr">
              <a:lnSpc>
                <a:spcPts val="3302"/>
              </a:lnSpc>
              <a:spcBef>
                <a:spcPct val="0"/>
              </a:spcBef>
            </a:pPr>
            <a:r>
              <a:rPr lang="en-US" sz="2751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📱• IT CAN BE DEVELOPED INTO A MOBILE OR WEB APPLICATION FOR EASIER ACCESS BY USERS.</a:t>
            </a:r>
          </a:p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649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🤖• THE MODEL ACCURACY CAN BE IMPROVED USING ADVANCED MACHINE LEARNING OR DEEP LEARNING ALGORITHMS.</a:t>
            </a:r>
          </a:p>
          <a:p>
            <a:pPr algn="ctr">
              <a:lnSpc>
                <a:spcPts val="3057"/>
              </a:lnSpc>
              <a:spcBef>
                <a:spcPct val="0"/>
              </a:spcBef>
            </a:pPr>
            <a:r>
              <a:rPr lang="en-US" sz="254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    🏥• THE SYSTEM CAN BE INTEGRATED WITH HOSPITAL DATABASES AND HEALTHCARE SYSTEMS FOR REAL-TIME MEDICAL ANALYSIS.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25248" y="1865665"/>
            <a:ext cx="2690352" cy="514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OUTCOMES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0656" y="5284946"/>
            <a:ext cx="4903743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166" y="2798558"/>
            <a:ext cx="483468" cy="41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  <a:spcBef>
                <a:spcPct val="0"/>
              </a:spcBef>
            </a:pPr>
            <a:r>
              <a:rPr lang="en-US" sz="2772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5596" y="2811412"/>
            <a:ext cx="11552246" cy="5972479"/>
            <a:chOff x="0" y="0"/>
            <a:chExt cx="2454141" cy="1268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4141" cy="1268784"/>
            </a:xfrm>
            <a:custGeom>
              <a:avLst/>
              <a:gdLst/>
              <a:ahLst/>
              <a:cxnLst/>
              <a:rect l="l" t="t" r="r" b="b"/>
              <a:pathLst>
                <a:path w="2454141" h="1268784">
                  <a:moveTo>
                    <a:pt x="15414" y="0"/>
                  </a:moveTo>
                  <a:lnTo>
                    <a:pt x="2438727" y="0"/>
                  </a:lnTo>
                  <a:cubicBezTo>
                    <a:pt x="2442815" y="0"/>
                    <a:pt x="2446736" y="1624"/>
                    <a:pt x="2449626" y="4515"/>
                  </a:cubicBezTo>
                  <a:cubicBezTo>
                    <a:pt x="2452517" y="7405"/>
                    <a:pt x="2454141" y="11326"/>
                    <a:pt x="2454141" y="15414"/>
                  </a:cubicBezTo>
                  <a:lnTo>
                    <a:pt x="2454141" y="1253370"/>
                  </a:lnTo>
                  <a:cubicBezTo>
                    <a:pt x="2454141" y="1261883"/>
                    <a:pt x="2447240" y="1268784"/>
                    <a:pt x="2438727" y="1268784"/>
                  </a:cubicBezTo>
                  <a:lnTo>
                    <a:pt x="15414" y="1268784"/>
                  </a:lnTo>
                  <a:cubicBezTo>
                    <a:pt x="6901" y="1268784"/>
                    <a:pt x="0" y="1261883"/>
                    <a:pt x="0" y="1253370"/>
                  </a:cubicBezTo>
                  <a:lnTo>
                    <a:pt x="0" y="15414"/>
                  </a:lnTo>
                  <a:cubicBezTo>
                    <a:pt x="0" y="6901"/>
                    <a:pt x="6901" y="0"/>
                    <a:pt x="15414" y="0"/>
                  </a:cubicBezTo>
                  <a:close/>
                </a:path>
              </a:pathLst>
            </a:custGeom>
            <a:solidFill>
              <a:srgbClr val="74BEE3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1" y="9258300"/>
            <a:ext cx="18288001" cy="1333869"/>
          </a:xfrm>
          <a:custGeom>
            <a:avLst/>
            <a:gdLst/>
            <a:ahLst/>
            <a:cxnLst/>
            <a:rect l="l" t="t" r="r" b="b"/>
            <a:pathLst>
              <a:path w="19563414" h="1333869">
                <a:moveTo>
                  <a:pt x="0" y="0"/>
                </a:moveTo>
                <a:lnTo>
                  <a:pt x="19563414" y="0"/>
                </a:lnTo>
                <a:lnTo>
                  <a:pt x="19563414" y="1333869"/>
                </a:lnTo>
                <a:lnTo>
                  <a:pt x="0" y="1333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44400" y="3467100"/>
            <a:ext cx="5401912" cy="4066930"/>
          </a:xfrm>
          <a:custGeom>
            <a:avLst/>
            <a:gdLst/>
            <a:ahLst/>
            <a:cxnLst/>
            <a:rect l="l" t="t" r="r" b="b"/>
            <a:pathLst>
              <a:path w="6227668" h="8080532">
                <a:moveTo>
                  <a:pt x="0" y="0"/>
                </a:moveTo>
                <a:lnTo>
                  <a:pt x="6227668" y="0"/>
                </a:lnTo>
                <a:lnTo>
                  <a:pt x="6227668" y="8080532"/>
                </a:lnTo>
                <a:lnTo>
                  <a:pt x="0" y="8080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55" r="-1898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45695" y="3121077"/>
            <a:ext cx="10453881" cy="519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sz="3093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• The Multiple Disease Prediction System uses machine learning techniques to predict diseases based on patient health data.</a:t>
            </a:r>
          </a:p>
          <a:p>
            <a:pPr algn="just">
              <a:lnSpc>
                <a:spcPts val="3712"/>
              </a:lnSpc>
            </a:pPr>
            <a:r>
              <a:rPr lang="en-US" sz="3093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• The system helps in early detection of diseases such as Diabetes, Heart Disease, and Parkinson’s.</a:t>
            </a:r>
          </a:p>
          <a:p>
            <a:pPr algn="just">
              <a:lnSpc>
                <a:spcPts val="3712"/>
              </a:lnSpc>
            </a:pPr>
            <a:r>
              <a:rPr lang="en-US" sz="3093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• It provides a simple and efficient way for users to enter medical parameters and receive prediction results.</a:t>
            </a:r>
          </a:p>
          <a:p>
            <a:pPr algn="just">
              <a:lnSpc>
                <a:spcPts val="3712"/>
              </a:lnSpc>
            </a:pPr>
            <a:r>
              <a:rPr lang="en-US" sz="3093">
                <a:solidFill>
                  <a:srgbClr val="0D1216"/>
                </a:solidFill>
                <a:latin typeface="Inter"/>
                <a:ea typeface="Inter"/>
                <a:cs typeface="Inter"/>
                <a:sym typeface="Inter"/>
              </a:rPr>
              <a:t>• This project demonstrates how Artificial Intelligence can support healthcare and improve disease diagnosis.</a:t>
            </a:r>
          </a:p>
          <a:p>
            <a:pPr marL="0" lvl="0" indent="0" algn="just">
              <a:lnSpc>
                <a:spcPts val="3712"/>
              </a:lnSpc>
              <a:spcBef>
                <a:spcPct val="0"/>
              </a:spcBef>
            </a:pPr>
            <a:endParaRPr lang="en-US" sz="3093">
              <a:solidFill>
                <a:srgbClr val="0D121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4009" y="1048240"/>
            <a:ext cx="7853563" cy="111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sz="781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259">
                <a:alpha val="100000"/>
              </a:srgbClr>
            </a:gs>
            <a:gs pos="50000">
              <a:srgbClr val="104259">
                <a:alpha val="100000"/>
              </a:srgbClr>
            </a:gs>
            <a:gs pos="100000">
              <a:srgbClr val="218EC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034971"/>
            <a:ext cx="18288000" cy="4407558"/>
            <a:chOff x="0" y="0"/>
            <a:chExt cx="4816593" cy="11608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60838"/>
            </a:xfrm>
            <a:custGeom>
              <a:avLst/>
              <a:gdLst/>
              <a:ahLst/>
              <a:cxnLst/>
              <a:rect l="l" t="t" r="r" b="b"/>
              <a:pathLst>
                <a:path w="4816592" h="1160838">
                  <a:moveTo>
                    <a:pt x="0" y="0"/>
                  </a:moveTo>
                  <a:lnTo>
                    <a:pt x="4816592" y="0"/>
                  </a:lnTo>
                  <a:lnTo>
                    <a:pt x="4816592" y="1160838"/>
                  </a:lnTo>
                  <a:lnTo>
                    <a:pt x="0" y="1160838"/>
                  </a:lnTo>
                  <a:close/>
                </a:path>
              </a:pathLst>
            </a:custGeom>
            <a:solidFill>
              <a:srgbClr val="74BE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198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387127" y="5143500"/>
            <a:ext cx="2020343" cy="573043"/>
          </a:xfrm>
          <a:custGeom>
            <a:avLst/>
            <a:gdLst/>
            <a:ahLst/>
            <a:cxnLst/>
            <a:rect l="l" t="t" r="r" b="b"/>
            <a:pathLst>
              <a:path w="2020343" h="573043">
                <a:moveTo>
                  <a:pt x="2020343" y="0"/>
                </a:moveTo>
                <a:lnTo>
                  <a:pt x="0" y="0"/>
                </a:lnTo>
                <a:lnTo>
                  <a:pt x="0" y="573043"/>
                </a:lnTo>
                <a:lnTo>
                  <a:pt x="2020343" y="573043"/>
                </a:lnTo>
                <a:lnTo>
                  <a:pt x="20203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80530" y="5143500"/>
            <a:ext cx="2020343" cy="573043"/>
          </a:xfrm>
          <a:custGeom>
            <a:avLst/>
            <a:gdLst/>
            <a:ahLst/>
            <a:cxnLst/>
            <a:rect l="l" t="t" r="r" b="b"/>
            <a:pathLst>
              <a:path w="2020343" h="573043">
                <a:moveTo>
                  <a:pt x="0" y="0"/>
                </a:moveTo>
                <a:lnTo>
                  <a:pt x="2020343" y="0"/>
                </a:lnTo>
                <a:lnTo>
                  <a:pt x="2020343" y="573043"/>
                </a:lnTo>
                <a:lnTo>
                  <a:pt x="0" y="573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-110380"/>
            <a:ext cx="2519122" cy="1893353"/>
          </a:xfrm>
          <a:custGeom>
            <a:avLst/>
            <a:gdLst/>
            <a:ahLst/>
            <a:cxnLst/>
            <a:rect l="l" t="t" r="r" b="b"/>
            <a:pathLst>
              <a:path w="2519122" h="1893353">
                <a:moveTo>
                  <a:pt x="0" y="0"/>
                </a:moveTo>
                <a:lnTo>
                  <a:pt x="2519122" y="0"/>
                </a:lnTo>
                <a:lnTo>
                  <a:pt x="2519122" y="1893352"/>
                </a:lnTo>
                <a:lnTo>
                  <a:pt x="0" y="1893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74568" y="-55190"/>
            <a:ext cx="2213432" cy="1782972"/>
          </a:xfrm>
          <a:custGeom>
            <a:avLst/>
            <a:gdLst/>
            <a:ahLst/>
            <a:cxnLst/>
            <a:rect l="l" t="t" r="r" b="b"/>
            <a:pathLst>
              <a:path w="2213432" h="1782972">
                <a:moveTo>
                  <a:pt x="0" y="0"/>
                </a:moveTo>
                <a:lnTo>
                  <a:pt x="2213432" y="0"/>
                </a:lnTo>
                <a:lnTo>
                  <a:pt x="2213432" y="1782972"/>
                </a:lnTo>
                <a:lnTo>
                  <a:pt x="0" y="1782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8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9982" y="8512463"/>
            <a:ext cx="2177841" cy="1774537"/>
          </a:xfrm>
          <a:custGeom>
            <a:avLst/>
            <a:gdLst/>
            <a:ahLst/>
            <a:cxnLst/>
            <a:rect l="l" t="t" r="r" b="b"/>
            <a:pathLst>
              <a:path w="2177841" h="1774537">
                <a:moveTo>
                  <a:pt x="0" y="0"/>
                </a:moveTo>
                <a:lnTo>
                  <a:pt x="2177842" y="0"/>
                </a:lnTo>
                <a:lnTo>
                  <a:pt x="2177842" y="1774537"/>
                </a:lnTo>
                <a:lnTo>
                  <a:pt x="0" y="1774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9524" y="8512463"/>
            <a:ext cx="1848476" cy="1774537"/>
          </a:xfrm>
          <a:custGeom>
            <a:avLst/>
            <a:gdLst/>
            <a:ahLst/>
            <a:cxnLst/>
            <a:rect l="l" t="t" r="r" b="b"/>
            <a:pathLst>
              <a:path w="1848476" h="1774537">
                <a:moveTo>
                  <a:pt x="0" y="0"/>
                </a:moveTo>
                <a:lnTo>
                  <a:pt x="1848476" y="0"/>
                </a:lnTo>
                <a:lnTo>
                  <a:pt x="1848476" y="1774537"/>
                </a:lnTo>
                <a:lnTo>
                  <a:pt x="0" y="17745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54199" y="4084816"/>
            <a:ext cx="12658902" cy="246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7"/>
              </a:lnSpc>
            </a:pPr>
            <a:r>
              <a:rPr lang="en-US" sz="17451">
                <a:solidFill>
                  <a:srgbClr val="10425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634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Inter Bold</vt:lpstr>
      <vt:lpstr>Poppins</vt:lpstr>
      <vt:lpstr>Arial</vt:lpstr>
      <vt:lpstr>Etna Sans Serif</vt:lpstr>
      <vt:lpstr>Inter</vt:lpstr>
      <vt:lpstr>Canva Sans Bold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Application of AI in Transportation and Logistics Systems Presentation</dc:title>
  <cp:lastModifiedBy>yashvi jaiswal</cp:lastModifiedBy>
  <cp:revision>7</cp:revision>
  <dcterms:created xsi:type="dcterms:W3CDTF">2006-08-16T00:00:00Z</dcterms:created>
  <dcterms:modified xsi:type="dcterms:W3CDTF">2026-05-23T16:41:21Z</dcterms:modified>
  <dc:identifier>DAHDigqFcQ8</dc:identifier>
</cp:coreProperties>
</file>